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embeddedFontLst>
    <p:embeddedFont>
      <p:font typeface="Play"/>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font" Target="fonts/Play-regular.fntdata"/><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rev.nvidia.com/launchable/deploy?launchableID=env-3DfuAZZiLMXlclVQt1ddp0fEsOH"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u="sng">
                <a:solidFill>
                  <a:schemeClr val="hlink"/>
                </a:solidFill>
                <a:hlinkClick r:id="rId2"/>
              </a:rPr>
              <a:t>Console | Brev</a:t>
            </a:r>
            <a:endParaRPr/>
          </a:p>
        </p:txBody>
      </p:sp>
      <p:sp>
        <p:nvSpPr>
          <p:cNvPr id="124" name="Google Shape;12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98222b1e9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3f98222b1e9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f98222b1e9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humanoid-ikea-assembly-challenge.github.io/"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jpg"/><Relationship Id="rId5" Type="http://schemas.openxmlformats.org/officeDocument/2006/relationships/image" Target="../media/image9.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ocs.google.com/forms/d/e/1FAIpQLSf4O6Z3X4fb87p-cPM8qV6R8NzK6jVVfOJT51d2ecJZDLiO9A/viewform?usp=dialog" TargetMode="External"/><Relationship Id="rId4" Type="http://schemas.openxmlformats.org/officeDocument/2006/relationships/hyperlink" Target="https://calendar.google.com/calendar/embed?src=21f1fcc71969d0fabba8e4728db4c2a5c74c1f258c63470259f2a0f255e31206%40group.calendar.google.com&amp;ctz=Asia%2FSingapore" TargetMode="External"/><Relationship Id="rId5" Type="http://schemas.openxmlformats.org/officeDocument/2006/relationships/hyperlink" Target="https://github.com/iacevaltest/ikea_iros_submi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mailto:iacevaltest@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lay"/>
              <a:buNone/>
            </a:pPr>
            <a:r>
              <a:rPr lang="en-US"/>
              <a:t>IROS Humanoid IKEA Assembly Challenge Evaluation - Participant Guide</a:t>
            </a:r>
            <a:endParaRPr/>
          </a:p>
        </p:txBody>
      </p:sp>
      <p:sp>
        <p:nvSpPr>
          <p:cNvPr id="89" name="Google Shape;89;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Pittsburgh, PA</a:t>
            </a:r>
            <a:endParaRPr/>
          </a:p>
          <a:p>
            <a:pPr indent="0" lvl="0" marL="0" rtl="0" algn="ctr">
              <a:lnSpc>
                <a:spcPct val="90000"/>
              </a:lnSpc>
              <a:spcBef>
                <a:spcPts val="1000"/>
              </a:spcBef>
              <a:spcAft>
                <a:spcPts val="0"/>
              </a:spcAft>
              <a:buClr>
                <a:schemeClr val="dk1"/>
              </a:buClr>
              <a:buSzPts val="2400"/>
              <a:buNone/>
            </a:pPr>
            <a:r>
              <a:rPr lang="en-US"/>
              <a:t>September 27</a:t>
            </a:r>
            <a:r>
              <a:rPr baseline="30000" lang="en-US"/>
              <a:t>th</a:t>
            </a:r>
            <a:r>
              <a:rPr lang="en-US"/>
              <a:t> to October 1</a:t>
            </a:r>
            <a:r>
              <a:rPr baseline="30000" lang="en-US"/>
              <a:t>st</a:t>
            </a:r>
            <a:endParaRPr/>
          </a:p>
          <a:p>
            <a:pPr indent="0" lvl="0" marL="0" rtl="0" algn="ctr">
              <a:lnSpc>
                <a:spcPct val="90000"/>
              </a:lnSpc>
              <a:spcBef>
                <a:spcPts val="1000"/>
              </a:spcBef>
              <a:spcAft>
                <a:spcPts val="0"/>
              </a:spcAft>
              <a:buClr>
                <a:schemeClr val="dk1"/>
              </a:buClr>
              <a:buSzPts val="2400"/>
              <a:buNone/>
            </a:pPr>
            <a:r>
              <a:rPr lang="en-US"/>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4"/>
          <p:cNvPicPr preferRelativeResize="0"/>
          <p:nvPr/>
        </p:nvPicPr>
        <p:blipFill rotWithShape="1">
          <a:blip r:embed="rId3">
            <a:alphaModFix/>
          </a:blip>
          <a:srcRect b="0" l="0" r="0" t="0"/>
          <a:stretch/>
        </p:blipFill>
        <p:spPr>
          <a:xfrm>
            <a:off x="0" y="999791"/>
            <a:ext cx="12192000" cy="485841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Resources</a:t>
            </a:r>
            <a:endParaRPr/>
          </a:p>
        </p:txBody>
      </p:sp>
      <p:sp>
        <p:nvSpPr>
          <p:cNvPr id="100" name="Google Shape;100;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u="sng">
                <a:solidFill>
                  <a:schemeClr val="hlink"/>
                </a:solidFill>
                <a:hlinkClick r:id="rId3"/>
              </a:rPr>
              <a:t>The Humanoid IKEA Assembly Challenge — IROS 2026</a:t>
            </a:r>
            <a:endParaRPr/>
          </a:p>
          <a:p>
            <a:pPr indent="-228600" lvl="0" marL="228600" rtl="0" algn="l">
              <a:lnSpc>
                <a:spcPct val="90000"/>
              </a:lnSpc>
              <a:spcBef>
                <a:spcPts val="1000"/>
              </a:spcBef>
              <a:spcAft>
                <a:spcPts val="0"/>
              </a:spcAft>
              <a:buClr>
                <a:schemeClr val="dk1"/>
              </a:buClr>
              <a:buSzPts val="2800"/>
              <a:buChar char="•"/>
            </a:pPr>
            <a:r>
              <a:rPr lang="en-US"/>
              <a:t>Unitree G1-U2 (with onboard Jetson Orin NX)</a:t>
            </a:r>
            <a:endParaRPr/>
          </a:p>
          <a:p>
            <a:pPr indent="-228600" lvl="0" marL="228600" rtl="0" algn="l">
              <a:lnSpc>
                <a:spcPct val="90000"/>
              </a:lnSpc>
              <a:spcBef>
                <a:spcPts val="1000"/>
              </a:spcBef>
              <a:spcAft>
                <a:spcPts val="0"/>
              </a:spcAft>
              <a:buClr>
                <a:schemeClr val="dk1"/>
              </a:buClr>
              <a:buSzPts val="2800"/>
              <a:buChar char="•"/>
            </a:pPr>
            <a:r>
              <a:rPr lang="en-US"/>
              <a:t>Unitree Dex1-1</a:t>
            </a:r>
            <a:endParaRPr/>
          </a:p>
          <a:p>
            <a:pPr indent="-228600" lvl="0" marL="228600" rtl="0" algn="l">
              <a:lnSpc>
                <a:spcPct val="90000"/>
              </a:lnSpc>
              <a:spcBef>
                <a:spcPts val="1000"/>
              </a:spcBef>
              <a:spcAft>
                <a:spcPts val="0"/>
              </a:spcAft>
              <a:buClr>
                <a:schemeClr val="dk1"/>
              </a:buClr>
              <a:buSzPts val="2800"/>
              <a:buChar char="•"/>
            </a:pPr>
            <a:r>
              <a:rPr lang="en-US"/>
              <a:t>2x Hand Cameras (Intel RealSense D405) with mounts</a:t>
            </a:r>
            <a:endParaRPr/>
          </a:p>
          <a:p>
            <a:pPr indent="-228600" lvl="0" marL="228600" rtl="0" algn="l">
              <a:lnSpc>
                <a:spcPct val="90000"/>
              </a:lnSpc>
              <a:spcBef>
                <a:spcPts val="1000"/>
              </a:spcBef>
              <a:spcAft>
                <a:spcPts val="0"/>
              </a:spcAft>
              <a:buClr>
                <a:schemeClr val="dk1"/>
              </a:buClr>
              <a:buSzPts val="2800"/>
              <a:buChar char="•"/>
            </a:pPr>
            <a:r>
              <a:rPr lang="en-US"/>
              <a:t>1x Head Stereo Camera (125 degrees FOV)</a:t>
            </a:r>
            <a:endParaRPr/>
          </a:p>
          <a:p>
            <a:pPr indent="-228600" lvl="0" marL="228600" rtl="0" algn="l">
              <a:lnSpc>
                <a:spcPct val="90000"/>
              </a:lnSpc>
              <a:spcBef>
                <a:spcPts val="1000"/>
              </a:spcBef>
              <a:spcAft>
                <a:spcPts val="0"/>
              </a:spcAft>
              <a:buClr>
                <a:schemeClr val="dk1"/>
              </a:buClr>
              <a:buSzPts val="2800"/>
              <a:buChar char="•"/>
            </a:pPr>
            <a:r>
              <a:rPr lang="en-US"/>
              <a:t>Jetson AGX Thor</a:t>
            </a:r>
            <a:endParaRPr/>
          </a:p>
          <a:p>
            <a:pPr indent="-228600" lvl="0" marL="228600" rtl="0" algn="l">
              <a:lnSpc>
                <a:spcPct val="90000"/>
              </a:lnSpc>
              <a:spcBef>
                <a:spcPts val="1000"/>
              </a:spcBef>
              <a:spcAft>
                <a:spcPts val="0"/>
              </a:spcAft>
              <a:buClr>
                <a:schemeClr val="dk1"/>
              </a:buClr>
              <a:buSzPts val="2800"/>
              <a:buChar char="•"/>
            </a:pPr>
            <a:r>
              <a:rPr lang="en-US"/>
              <a:t>Ethernet Cable</a:t>
            </a:r>
            <a:endParaRPr/>
          </a:p>
          <a:p>
            <a:pPr indent="-228600" lvl="0" marL="228600" rtl="0" algn="l">
              <a:lnSpc>
                <a:spcPct val="90000"/>
              </a:lnSpc>
              <a:spcBef>
                <a:spcPts val="1000"/>
              </a:spcBef>
              <a:spcAft>
                <a:spcPts val="0"/>
              </a:spcAft>
              <a:buClr>
                <a:schemeClr val="dk1"/>
              </a:buClr>
              <a:buSzPts val="2800"/>
              <a:buChar char="•"/>
            </a:pPr>
            <a:r>
              <a:rPr lang="en-US"/>
              <a:t>Desk Setup </a:t>
            </a:r>
            <a:endParaRPr/>
          </a:p>
          <a:p>
            <a:pPr indent="-228600" lvl="0" marL="228600" rtl="0" algn="l">
              <a:lnSpc>
                <a:spcPct val="90000"/>
              </a:lnSpc>
              <a:spcBef>
                <a:spcPts val="1000"/>
              </a:spcBef>
              <a:spcAft>
                <a:spcPts val="0"/>
              </a:spcAft>
              <a:buClr>
                <a:schemeClr val="dk1"/>
              </a:buClr>
              <a:buSzPts val="2800"/>
              <a:buChar char="•"/>
            </a:pPr>
            <a:r>
              <a:rPr lang="en-US"/>
              <a:t>IKEA Utter Table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IROS IKEA Assembly Challenge</a:t>
            </a:r>
            <a:endParaRPr/>
          </a:p>
        </p:txBody>
      </p:sp>
      <p:pic>
        <p:nvPicPr>
          <p:cNvPr descr="NVIDIA Jetson AGX Thor Developer Kit without Jetpack 7 Installation Service" id="107" name="Google Shape;107;p16"/>
          <p:cNvPicPr preferRelativeResize="0"/>
          <p:nvPr/>
        </p:nvPicPr>
        <p:blipFill rotWithShape="1">
          <a:blip r:embed="rId3">
            <a:alphaModFix/>
          </a:blip>
          <a:srcRect b="24444" l="10952" r="12540" t="26621"/>
          <a:stretch/>
        </p:blipFill>
        <p:spPr>
          <a:xfrm>
            <a:off x="7245533" y="3601978"/>
            <a:ext cx="3052955" cy="1952698"/>
          </a:xfrm>
          <a:prstGeom prst="rect">
            <a:avLst/>
          </a:prstGeom>
          <a:noFill/>
          <a:ln>
            <a:noFill/>
          </a:ln>
        </p:spPr>
      </p:pic>
      <p:cxnSp>
        <p:nvCxnSpPr>
          <p:cNvPr id="108" name="Google Shape;108;p16"/>
          <p:cNvCxnSpPr/>
          <p:nvPr/>
        </p:nvCxnSpPr>
        <p:spPr>
          <a:xfrm>
            <a:off x="4208417" y="4261709"/>
            <a:ext cx="3037116" cy="0"/>
          </a:xfrm>
          <a:prstGeom prst="straightConnector1">
            <a:avLst/>
          </a:prstGeom>
          <a:noFill/>
          <a:ln cap="flat" cmpd="sng" w="76200">
            <a:solidFill>
              <a:schemeClr val="accent1"/>
            </a:solidFill>
            <a:prstDash val="solid"/>
            <a:round/>
            <a:headEnd len="sm" w="sm" type="none"/>
            <a:tailEnd len="med" w="med" type="stealth"/>
          </a:ln>
        </p:spPr>
      </p:cxnSp>
      <p:sp>
        <p:nvSpPr>
          <p:cNvPr id="109" name="Google Shape;109;p16"/>
          <p:cNvSpPr txBox="1"/>
          <p:nvPr/>
        </p:nvSpPr>
        <p:spPr>
          <a:xfrm>
            <a:off x="1671832" y="2258054"/>
            <a:ext cx="30372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Unitree G1-U2 (with onboard NVIDIA Jetson Orin NX)</a:t>
            </a:r>
            <a:endParaRPr/>
          </a:p>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 Running policy client</a:t>
            </a:r>
            <a:endParaRPr b="0" i="0" sz="1800" u="none" cap="none" strike="noStrike">
              <a:solidFill>
                <a:schemeClr val="dk1"/>
              </a:solidFill>
              <a:latin typeface="Arial"/>
              <a:ea typeface="Arial"/>
              <a:cs typeface="Arial"/>
              <a:sym typeface="Arial"/>
            </a:endParaRPr>
          </a:p>
        </p:txBody>
      </p:sp>
      <p:sp>
        <p:nvSpPr>
          <p:cNvPr id="110" name="Google Shape;110;p16"/>
          <p:cNvSpPr txBox="1"/>
          <p:nvPr/>
        </p:nvSpPr>
        <p:spPr>
          <a:xfrm>
            <a:off x="7593757" y="2934251"/>
            <a:ext cx="27651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rPr>
              <a:t>NVIDIA </a:t>
            </a:r>
            <a:r>
              <a:rPr b="0" i="0" lang="en-US" sz="1800" u="none" cap="none" strike="noStrike">
                <a:solidFill>
                  <a:schemeClr val="dk1"/>
                </a:solidFill>
                <a:latin typeface="Arial"/>
                <a:ea typeface="Arial"/>
                <a:cs typeface="Arial"/>
                <a:sym typeface="Arial"/>
              </a:rPr>
              <a:t>Jetson Thor</a:t>
            </a:r>
            <a:endParaRPr/>
          </a:p>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 Running policy server</a:t>
            </a:r>
            <a:endParaRPr b="0" i="0" sz="1800" u="none" cap="none" strike="noStrike">
              <a:solidFill>
                <a:schemeClr val="dk1"/>
              </a:solidFill>
              <a:latin typeface="Arial"/>
              <a:ea typeface="Arial"/>
              <a:cs typeface="Arial"/>
              <a:sym typeface="Arial"/>
            </a:endParaRPr>
          </a:p>
        </p:txBody>
      </p:sp>
      <p:pic>
        <p:nvPicPr>
          <p:cNvPr descr="Amazon.com: MMlove USB Stereo Camera Module 1200P 60FPS Global Shutter ..." id="111" name="Google Shape;111;p16"/>
          <p:cNvPicPr preferRelativeResize="0"/>
          <p:nvPr/>
        </p:nvPicPr>
        <p:blipFill rotWithShape="1">
          <a:blip r:embed="rId4">
            <a:alphaModFix/>
          </a:blip>
          <a:srcRect b="0" l="0" r="0" t="0"/>
          <a:stretch/>
        </p:blipFill>
        <p:spPr>
          <a:xfrm>
            <a:off x="491314" y="3161890"/>
            <a:ext cx="1422180" cy="1099819"/>
          </a:xfrm>
          <a:prstGeom prst="rect">
            <a:avLst/>
          </a:prstGeom>
          <a:noFill/>
          <a:ln>
            <a:noFill/>
          </a:ln>
        </p:spPr>
      </p:pic>
      <p:pic>
        <p:nvPicPr>
          <p:cNvPr id="112" name="Google Shape;112;p16"/>
          <p:cNvPicPr preferRelativeResize="0"/>
          <p:nvPr/>
        </p:nvPicPr>
        <p:blipFill rotWithShape="1">
          <a:blip r:embed="rId5">
            <a:alphaModFix/>
          </a:blip>
          <a:srcRect b="0" l="0" r="0" t="0"/>
          <a:stretch/>
        </p:blipFill>
        <p:spPr>
          <a:xfrm>
            <a:off x="4497932" y="5470355"/>
            <a:ext cx="872192" cy="872192"/>
          </a:xfrm>
          <a:prstGeom prst="rect">
            <a:avLst/>
          </a:prstGeom>
          <a:noFill/>
          <a:ln>
            <a:noFill/>
          </a:ln>
        </p:spPr>
      </p:pic>
      <p:pic>
        <p:nvPicPr>
          <p:cNvPr id="113" name="Google Shape;113;p16"/>
          <p:cNvPicPr preferRelativeResize="0"/>
          <p:nvPr/>
        </p:nvPicPr>
        <p:blipFill rotWithShape="1">
          <a:blip r:embed="rId5">
            <a:alphaModFix/>
          </a:blip>
          <a:srcRect b="0" l="0" r="0" t="0"/>
          <a:stretch/>
        </p:blipFill>
        <p:spPr>
          <a:xfrm>
            <a:off x="1147190" y="4703880"/>
            <a:ext cx="872192" cy="872192"/>
          </a:xfrm>
          <a:prstGeom prst="rect">
            <a:avLst/>
          </a:prstGeom>
          <a:noFill/>
          <a:ln>
            <a:noFill/>
          </a:ln>
        </p:spPr>
      </p:pic>
      <p:cxnSp>
        <p:nvCxnSpPr>
          <p:cNvPr id="114" name="Google Shape;114;p16"/>
          <p:cNvCxnSpPr/>
          <p:nvPr/>
        </p:nvCxnSpPr>
        <p:spPr>
          <a:xfrm>
            <a:off x="3592286" y="5070359"/>
            <a:ext cx="802529" cy="639811"/>
          </a:xfrm>
          <a:prstGeom prst="straightConnector1">
            <a:avLst/>
          </a:prstGeom>
          <a:noFill/>
          <a:ln cap="flat" cmpd="sng" w="76200">
            <a:solidFill>
              <a:schemeClr val="accent2"/>
            </a:solidFill>
            <a:prstDash val="solid"/>
            <a:miter lim="8000"/>
            <a:headEnd len="sm" w="sm" type="none"/>
            <a:tailEnd len="sm" w="sm" type="none"/>
          </a:ln>
        </p:spPr>
      </p:cxnSp>
      <p:cxnSp>
        <p:nvCxnSpPr>
          <p:cNvPr id="115" name="Google Shape;115;p16"/>
          <p:cNvCxnSpPr/>
          <p:nvPr/>
        </p:nvCxnSpPr>
        <p:spPr>
          <a:xfrm rot="10800000">
            <a:off x="2090217" y="5139976"/>
            <a:ext cx="532306" cy="0"/>
          </a:xfrm>
          <a:prstGeom prst="straightConnector1">
            <a:avLst/>
          </a:prstGeom>
          <a:noFill/>
          <a:ln cap="flat" cmpd="sng" w="76200">
            <a:solidFill>
              <a:schemeClr val="accent2"/>
            </a:solidFill>
            <a:prstDash val="solid"/>
            <a:miter lim="8000"/>
            <a:headEnd len="sm" w="sm" type="none"/>
            <a:tailEnd len="sm" w="sm" type="none"/>
          </a:ln>
        </p:spPr>
      </p:cxnSp>
      <p:cxnSp>
        <p:nvCxnSpPr>
          <p:cNvPr id="116" name="Google Shape;116;p16"/>
          <p:cNvCxnSpPr/>
          <p:nvPr/>
        </p:nvCxnSpPr>
        <p:spPr>
          <a:xfrm rot="10800000">
            <a:off x="2090217" y="3895183"/>
            <a:ext cx="565469" cy="125287"/>
          </a:xfrm>
          <a:prstGeom prst="straightConnector1">
            <a:avLst/>
          </a:prstGeom>
          <a:noFill/>
          <a:ln cap="flat" cmpd="sng" w="76200">
            <a:solidFill>
              <a:schemeClr val="accent2"/>
            </a:solidFill>
            <a:prstDash val="solid"/>
            <a:miter lim="8000"/>
            <a:headEnd len="sm" w="sm" type="none"/>
            <a:tailEnd len="sm" w="sm" type="none"/>
          </a:ln>
        </p:spPr>
      </p:cxnSp>
      <p:cxnSp>
        <p:nvCxnSpPr>
          <p:cNvPr id="117" name="Google Shape;117;p16"/>
          <p:cNvCxnSpPr/>
          <p:nvPr/>
        </p:nvCxnSpPr>
        <p:spPr>
          <a:xfrm rot="10800000">
            <a:off x="4208417" y="4703880"/>
            <a:ext cx="3037116" cy="0"/>
          </a:xfrm>
          <a:prstGeom prst="straightConnector1">
            <a:avLst/>
          </a:prstGeom>
          <a:noFill/>
          <a:ln cap="flat" cmpd="sng" w="76200">
            <a:solidFill>
              <a:srgbClr val="8CD872"/>
            </a:solidFill>
            <a:prstDash val="solid"/>
            <a:round/>
            <a:headEnd len="sm" w="sm" type="none"/>
            <a:tailEnd len="med" w="med" type="stealth"/>
          </a:ln>
        </p:spPr>
      </p:cxnSp>
      <p:sp>
        <p:nvSpPr>
          <p:cNvPr id="118" name="Google Shape;118;p16"/>
          <p:cNvSpPr txBox="1"/>
          <p:nvPr/>
        </p:nvSpPr>
        <p:spPr>
          <a:xfrm>
            <a:off x="5041424" y="3895183"/>
            <a:ext cx="151509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observations</a:t>
            </a:r>
            <a:endParaRPr b="0" i="0" sz="1800" u="none" cap="none" strike="noStrike">
              <a:solidFill>
                <a:schemeClr val="dk1"/>
              </a:solidFill>
              <a:latin typeface="Arial"/>
              <a:ea typeface="Arial"/>
              <a:cs typeface="Arial"/>
              <a:sym typeface="Arial"/>
            </a:endParaRPr>
          </a:p>
        </p:txBody>
      </p:sp>
      <p:sp>
        <p:nvSpPr>
          <p:cNvPr id="119" name="Google Shape;119;p16"/>
          <p:cNvSpPr txBox="1"/>
          <p:nvPr/>
        </p:nvSpPr>
        <p:spPr>
          <a:xfrm>
            <a:off x="5041424" y="4701027"/>
            <a:ext cx="151509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actions</a:t>
            </a:r>
            <a:endParaRPr b="0" i="0" sz="1800" u="none" cap="none" strike="noStrike">
              <a:solidFill>
                <a:schemeClr val="dk1"/>
              </a:solidFill>
              <a:latin typeface="Arial"/>
              <a:ea typeface="Arial"/>
              <a:cs typeface="Arial"/>
              <a:sym typeface="Arial"/>
            </a:endParaRPr>
          </a:p>
        </p:txBody>
      </p:sp>
      <p:pic>
        <p:nvPicPr>
          <p:cNvPr descr="Robot Humanoide Unitree G1 EDU Ultimate A – Artil Robotics" id="120" name="Google Shape;120;p16"/>
          <p:cNvPicPr preferRelativeResize="0"/>
          <p:nvPr/>
        </p:nvPicPr>
        <p:blipFill rotWithShape="1">
          <a:blip r:embed="rId6">
            <a:alphaModFix/>
          </a:blip>
          <a:srcRect b="0" l="0" r="0" t="0"/>
          <a:stretch/>
        </p:blipFill>
        <p:spPr>
          <a:xfrm>
            <a:off x="1640928" y="3257416"/>
            <a:ext cx="3123284" cy="312328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IROS IKEA Assembly Challenge</a:t>
            </a:r>
            <a:endParaRPr/>
          </a:p>
        </p:txBody>
      </p:sp>
      <p:pic>
        <p:nvPicPr>
          <p:cNvPr id="127" name="Google Shape;127;p17"/>
          <p:cNvPicPr preferRelativeResize="0"/>
          <p:nvPr>
            <p:ph idx="1" type="body"/>
          </p:nvPr>
        </p:nvPicPr>
        <p:blipFill rotWithShape="1">
          <a:blip r:embed="rId3">
            <a:alphaModFix/>
          </a:blip>
          <a:srcRect b="0" l="0" r="0" t="0"/>
          <a:stretch/>
        </p:blipFill>
        <p:spPr>
          <a:xfrm>
            <a:off x="2689406" y="1382984"/>
            <a:ext cx="6813188" cy="51098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IROS IKEA Assembly Challenge</a:t>
            </a:r>
            <a:endParaRPr/>
          </a:p>
        </p:txBody>
      </p:sp>
      <p:sp>
        <p:nvSpPr>
          <p:cNvPr id="134" name="Google Shape;134;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35" name="Google Shape;135;p18"/>
          <p:cNvPicPr preferRelativeResize="0"/>
          <p:nvPr/>
        </p:nvPicPr>
        <p:blipFill rotWithShape="1">
          <a:blip r:embed="rId3">
            <a:alphaModFix/>
          </a:blip>
          <a:srcRect b="0" l="0" r="0" t="0"/>
          <a:stretch/>
        </p:blipFill>
        <p:spPr>
          <a:xfrm>
            <a:off x="404812" y="247650"/>
            <a:ext cx="11382375" cy="6362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IROS IKEA Assembly Challenge - Submission Requirements</a:t>
            </a:r>
            <a:endParaRPr/>
          </a:p>
        </p:txBody>
      </p:sp>
      <p:sp>
        <p:nvSpPr>
          <p:cNvPr id="142" name="Google Shape;142;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400"/>
              <a:buChar char="•"/>
            </a:pPr>
            <a:r>
              <a:rPr lang="en-US" sz="2400"/>
              <a:t>Send an email for Request to Submit to (</a:t>
            </a:r>
            <a:r>
              <a:rPr b="1" lang="en-US" sz="2400"/>
              <a:t>iacevaltest@gmail.com</a:t>
            </a:r>
            <a:r>
              <a:rPr lang="en-US" sz="2400"/>
              <a:t>) and include a zipped file/link with a video of policy working in simulation/real Unitree G1.</a:t>
            </a:r>
            <a:endParaRPr/>
          </a:p>
          <a:p>
            <a:pPr indent="-228600" lvl="0" marL="228600" rtl="0" algn="l">
              <a:lnSpc>
                <a:spcPct val="90000"/>
              </a:lnSpc>
              <a:spcBef>
                <a:spcPts val="1000"/>
              </a:spcBef>
              <a:spcAft>
                <a:spcPts val="0"/>
              </a:spcAft>
              <a:buClr>
                <a:schemeClr val="dk1"/>
              </a:buClr>
              <a:buSzPts val="2400"/>
              <a:buChar char="•"/>
            </a:pPr>
            <a:r>
              <a:rPr b="1" lang="en-US" sz="2400"/>
              <a:t>This Request to Submit email will need to be done one time only if approved. </a:t>
            </a:r>
            <a:endParaRPr/>
          </a:p>
          <a:p>
            <a:pPr indent="-228600" lvl="0" marL="228600" rtl="0" algn="l">
              <a:lnSpc>
                <a:spcPct val="90000"/>
              </a:lnSpc>
              <a:spcBef>
                <a:spcPts val="1000"/>
              </a:spcBef>
              <a:spcAft>
                <a:spcPts val="0"/>
              </a:spcAft>
              <a:buClr>
                <a:schemeClr val="dk1"/>
              </a:buClr>
              <a:buSzPts val="2400"/>
              <a:buChar char="•"/>
            </a:pPr>
            <a:r>
              <a:rPr lang="en-US" sz="2400"/>
              <a:t>Team captain is required to send a submission email titled:</a:t>
            </a:r>
            <a:br>
              <a:rPr lang="en-US" sz="2400"/>
            </a:br>
            <a:r>
              <a:rPr lang="en-US" sz="2400"/>
              <a:t>- [IROS IKEA SUB] {Team Name}</a:t>
            </a:r>
            <a:endParaRPr/>
          </a:p>
          <a:p>
            <a:pPr indent="-228600" lvl="0" marL="228600" rtl="0" algn="l">
              <a:lnSpc>
                <a:spcPct val="90000"/>
              </a:lnSpc>
              <a:spcBef>
                <a:spcPts val="1000"/>
              </a:spcBef>
              <a:spcAft>
                <a:spcPts val="0"/>
              </a:spcAft>
              <a:buClr>
                <a:schemeClr val="dk1"/>
              </a:buClr>
              <a:buSzPts val="2400"/>
              <a:buChar char="•"/>
            </a:pPr>
            <a:r>
              <a:rPr lang="en-US" sz="2400"/>
              <a:t>Teams are to attach a  zipped file/link within the email to a video of the policy working and validated in RoboFinals Simulation or real life.</a:t>
            </a:r>
            <a:endParaRPr/>
          </a:p>
          <a:p>
            <a:pPr indent="-228600" lvl="0" marL="228600" rtl="0" algn="l">
              <a:lnSpc>
                <a:spcPct val="90000"/>
              </a:lnSpc>
              <a:spcBef>
                <a:spcPts val="1000"/>
              </a:spcBef>
              <a:spcAft>
                <a:spcPts val="0"/>
              </a:spcAft>
              <a:buClr>
                <a:schemeClr val="dk1"/>
              </a:buClr>
              <a:buSzPts val="2400"/>
              <a:buChar char="•"/>
            </a:pPr>
            <a:r>
              <a:rPr b="1" lang="en-US" sz="2400"/>
              <a:t>If there is no video proof of assembly working in simulation/real Unitree G1, we will reject the request and require you to resubmit the request. This is to ensure safety for the evaluation team.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IROS IKEA Assembly Challenge - Submission Requirements</a:t>
            </a:r>
            <a:endParaRPr/>
          </a:p>
        </p:txBody>
      </p:sp>
      <p:sp>
        <p:nvSpPr>
          <p:cNvPr id="149" name="Google Shape;149;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194310" lvl="0" marL="228600" rtl="0" algn="l">
              <a:lnSpc>
                <a:spcPct val="90000"/>
              </a:lnSpc>
              <a:spcBef>
                <a:spcPts val="0"/>
              </a:spcBef>
              <a:spcAft>
                <a:spcPts val="0"/>
              </a:spcAft>
              <a:buClr>
                <a:schemeClr val="dk1"/>
              </a:buClr>
              <a:buSzPct val="100000"/>
              <a:buChar char="•"/>
            </a:pPr>
            <a:r>
              <a:rPr lang="en-US" sz="2400"/>
              <a:t>If request is approved, team will receive a link to:</a:t>
            </a:r>
            <a:br>
              <a:rPr lang="en-US" sz="2400"/>
            </a:br>
            <a:br>
              <a:rPr lang="en-US" sz="2400"/>
            </a:br>
            <a:r>
              <a:rPr lang="en-US" sz="2400"/>
              <a:t>- Google Forms = for booking request (</a:t>
            </a:r>
            <a:r>
              <a:rPr lang="en-US" sz="2400" u="sng">
                <a:solidFill>
                  <a:schemeClr val="hlink"/>
                </a:solidFill>
                <a:hlinkClick r:id="rId3"/>
              </a:rPr>
              <a:t>https://docs.google.com/forms/d/e/1FAIpQLSf4O6Z3X4fb87p-cPM8qV6R8NzK6jVVfOJT51d2ecJZDLiO9A/viewform?usp=dialog</a:t>
            </a:r>
            <a:r>
              <a:rPr lang="en-US" sz="2400"/>
              <a:t>)</a:t>
            </a:r>
            <a:br>
              <a:rPr lang="en-US" sz="2400"/>
            </a:br>
            <a:br>
              <a:rPr lang="en-US" sz="2400"/>
            </a:br>
            <a:r>
              <a:rPr lang="en-US" sz="2400"/>
              <a:t>- Google Calendar = for checking time slot availability (</a:t>
            </a:r>
            <a:r>
              <a:rPr lang="en-US" sz="2400" u="sng">
                <a:solidFill>
                  <a:schemeClr val="hlink"/>
                </a:solidFill>
                <a:hlinkClick r:id="rId4"/>
              </a:rPr>
              <a:t>https://calendar.google.com/calendar/embed?src=21f1fcc71969d0fabba8e4728db4c2a5c74c1f258c63470259f2a0f255e31206%40group.calendar.google.com&amp;ctz=Asia%2FSingapore</a:t>
            </a:r>
            <a:r>
              <a:rPr lang="en-US" sz="2400"/>
              <a:t>)</a:t>
            </a:r>
            <a:endParaRPr/>
          </a:p>
          <a:p>
            <a:pPr indent="-194310" lvl="0" marL="228600" rtl="0" algn="l">
              <a:lnSpc>
                <a:spcPct val="90000"/>
              </a:lnSpc>
              <a:spcBef>
                <a:spcPts val="1000"/>
              </a:spcBef>
              <a:spcAft>
                <a:spcPts val="0"/>
              </a:spcAft>
              <a:buClr>
                <a:schemeClr val="dk1"/>
              </a:buClr>
              <a:buSzPct val="100000"/>
              <a:buChar char="•"/>
            </a:pPr>
            <a:r>
              <a:rPr b="1" lang="en-US" sz="2400"/>
              <a:t>From 6</a:t>
            </a:r>
            <a:r>
              <a:rPr b="1" baseline="30000" lang="en-US" sz="2400"/>
              <a:t>th</a:t>
            </a:r>
            <a:r>
              <a:rPr b="1" lang="en-US" sz="2400"/>
              <a:t> August to 18</a:t>
            </a:r>
            <a:r>
              <a:rPr b="1" baseline="30000" lang="en-US" sz="2400"/>
              <a:t>th</a:t>
            </a:r>
            <a:r>
              <a:rPr b="1" lang="en-US" sz="2400"/>
              <a:t> August, </a:t>
            </a:r>
            <a:r>
              <a:rPr lang="en-US" sz="2400"/>
              <a:t>teams are only to submit their Policy Server and Client to ensure that it is compatible to run on the Jetson AGX Thor and Orin. Do refer to </a:t>
            </a:r>
            <a:r>
              <a:rPr b="1" lang="en-US" sz="2400"/>
              <a:t>(</a:t>
            </a:r>
            <a:r>
              <a:rPr b="1" lang="en-US" sz="2400" u="sng">
                <a:solidFill>
                  <a:schemeClr val="hlink"/>
                </a:solidFill>
                <a:hlinkClick r:id="rId5"/>
              </a:rPr>
              <a:t>https://github.com/iacevaltest/ikea_iros_submit</a:t>
            </a:r>
            <a:r>
              <a:rPr b="1" lang="en-US" sz="2400"/>
              <a:t>)</a:t>
            </a:r>
            <a:endParaRPr b="1" sz="2400"/>
          </a:p>
          <a:p>
            <a:pPr indent="-220980" lvl="0" marL="228600" rtl="0" algn="l">
              <a:spcBef>
                <a:spcPts val="1000"/>
              </a:spcBef>
              <a:spcAft>
                <a:spcPts val="0"/>
              </a:spcAft>
              <a:buSzPct val="100000"/>
              <a:buChar char="•"/>
            </a:pPr>
            <a:r>
              <a:rPr b="1" lang="en-US" sz="2400"/>
              <a:t>Note that no real robot run will be done in the ONBOARDING period.</a:t>
            </a:r>
            <a:endParaRPr b="1" sz="2400"/>
          </a:p>
          <a:p>
            <a:pPr indent="-194310" lvl="0" marL="228600" rtl="0" algn="l">
              <a:lnSpc>
                <a:spcPct val="90000"/>
              </a:lnSpc>
              <a:spcBef>
                <a:spcPts val="1000"/>
              </a:spcBef>
              <a:spcAft>
                <a:spcPts val="0"/>
              </a:spcAft>
              <a:buClr>
                <a:schemeClr val="dk1"/>
              </a:buClr>
              <a:buSzPct val="100000"/>
              <a:buChar char="•"/>
            </a:pPr>
            <a:r>
              <a:rPr lang="en-US" sz="2400"/>
              <a:t>The ONBOARDING period will be used to ensure teams can get feedback on the Policy Server and Client execution and allow time to make any changes before committing to the policy submission.</a:t>
            </a:r>
            <a:endParaRPr sz="2400"/>
          </a:p>
          <a:p>
            <a:pPr indent="-194310" lvl="0" marL="228600" rtl="0" algn="l">
              <a:lnSpc>
                <a:spcPct val="90000"/>
              </a:lnSpc>
              <a:spcBef>
                <a:spcPts val="1000"/>
              </a:spcBef>
              <a:spcAft>
                <a:spcPts val="0"/>
              </a:spcAft>
              <a:buClr>
                <a:schemeClr val="dk1"/>
              </a:buClr>
              <a:buSzPct val="100000"/>
              <a:buChar char="•"/>
            </a:pPr>
            <a:r>
              <a:rPr b="1" lang="en-US" sz="2400"/>
              <a:t>Submission of DRY-RUN EVAL </a:t>
            </a:r>
            <a:r>
              <a:rPr lang="en-US" sz="2400"/>
              <a:t>(policy weights, checkpoints, etc.) will be from</a:t>
            </a:r>
            <a:r>
              <a:rPr b="1" lang="en-US" sz="2400"/>
              <a:t> 20</a:t>
            </a:r>
            <a:r>
              <a:rPr b="1" baseline="30000" lang="en-US" sz="2400"/>
              <a:t>th </a:t>
            </a:r>
            <a:r>
              <a:rPr b="1" lang="en-US" sz="2400"/>
              <a:t>August onwards. This will be where the real robot run is done. </a:t>
            </a:r>
            <a:r>
              <a:rPr lang="en-US" sz="2400"/>
              <a:t>Teams who still require further compatibility checking for ONBOARDING can continue as well. </a:t>
            </a:r>
            <a:endParaRPr/>
          </a:p>
          <a:p>
            <a:pPr indent="-87630" lvl="0" marL="228600" rtl="0" algn="l">
              <a:lnSpc>
                <a:spcPct val="90000"/>
              </a:lnSpc>
              <a:spcBef>
                <a:spcPts val="1000"/>
              </a:spcBef>
              <a:spcAft>
                <a:spcPts val="0"/>
              </a:spcAft>
              <a:buClr>
                <a:schemeClr val="dk1"/>
              </a:buClr>
              <a:buSzPct val="100000"/>
              <a:buNone/>
            </a:pPr>
            <a:r>
              <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IROS IKEA Assembly Challenge - Submission Requirements</a:t>
            </a:r>
            <a:endParaRPr/>
          </a:p>
        </p:txBody>
      </p:sp>
      <p:sp>
        <p:nvSpPr>
          <p:cNvPr id="156" name="Google Shape;156;p21"/>
          <p:cNvSpPr txBox="1"/>
          <p:nvPr>
            <p:ph idx="1" type="body"/>
          </p:nvPr>
        </p:nvSpPr>
        <p:spPr>
          <a:xfrm>
            <a:off x="381000" y="1825625"/>
            <a:ext cx="7162800" cy="4351338"/>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Clr>
                <a:schemeClr val="dk1"/>
              </a:buClr>
              <a:buSzPct val="100000"/>
              <a:buNone/>
            </a:pPr>
            <a:r>
              <a:rPr b="1" lang="en-US" sz="1200"/>
              <a:t>1. Git repo URL — your code, containing the unmodified boundary/ and a Dockerfile for each container.</a:t>
            </a:r>
            <a:endParaRPr/>
          </a:p>
          <a:p>
            <a:pPr indent="0" lvl="0" marL="0" rtl="0" algn="l">
              <a:lnSpc>
                <a:spcPct val="90000"/>
              </a:lnSpc>
              <a:spcBef>
                <a:spcPts val="1000"/>
              </a:spcBef>
              <a:spcAft>
                <a:spcPts val="0"/>
              </a:spcAft>
              <a:buClr>
                <a:schemeClr val="dk1"/>
              </a:buClr>
              <a:buSzPct val="100000"/>
              <a:buNone/>
            </a:pPr>
            <a:r>
              <a:rPr b="1" lang="en-US" sz="1200"/>
              <a:t>2. Thor image — policy server, pushed to a registry, referenced by digest (sha256:...). Base image MUST match the Thor's installed Jetson Linux: nvcr.io/nvidia/l4t-*:&lt;TAG-TBD&gt;. Target sm_110 (Blackwell).</a:t>
            </a:r>
            <a:endParaRPr/>
          </a:p>
          <a:p>
            <a:pPr indent="0" lvl="0" marL="0" rtl="0" algn="l">
              <a:lnSpc>
                <a:spcPct val="90000"/>
              </a:lnSpc>
              <a:spcBef>
                <a:spcPts val="1000"/>
              </a:spcBef>
              <a:spcAft>
                <a:spcPts val="0"/>
              </a:spcAft>
              <a:buClr>
                <a:schemeClr val="dk1"/>
              </a:buClr>
              <a:buSzPct val="100000"/>
              <a:buNone/>
            </a:pPr>
            <a:r>
              <a:rPr b="1" lang="en-US" sz="1200"/>
              <a:t>3. Orin image — policy client, same, referenced by digest. Base image MUST match the Orin's installed Jetson Linux: nvcr.io/nvidia/l4t-*:&lt;TAG-TBD&gt;. Target sm_87 (Ampere).</a:t>
            </a:r>
            <a:endParaRPr/>
          </a:p>
          <a:p>
            <a:pPr indent="-228600" lvl="0" marL="228600" rtl="0" algn="l">
              <a:lnSpc>
                <a:spcPct val="90000"/>
              </a:lnSpc>
              <a:spcBef>
                <a:spcPts val="1000"/>
              </a:spcBef>
              <a:spcAft>
                <a:spcPts val="0"/>
              </a:spcAft>
              <a:buClr>
                <a:schemeClr val="dk1"/>
              </a:buClr>
              <a:buSzPct val="100000"/>
              <a:buChar char="•"/>
            </a:pPr>
            <a:r>
              <a:rPr b="1" lang="en-US" sz="1200"/>
              <a:t> NOTE: the two machines are on different JetPack lines and different GPU architectures. One image will not run on both. Build two.</a:t>
            </a:r>
            <a:endParaRPr/>
          </a:p>
          <a:p>
            <a:pPr indent="0" lvl="0" marL="0" rtl="0" algn="l">
              <a:lnSpc>
                <a:spcPct val="90000"/>
              </a:lnSpc>
              <a:spcBef>
                <a:spcPts val="1000"/>
              </a:spcBef>
              <a:spcAft>
                <a:spcPts val="0"/>
              </a:spcAft>
              <a:buClr>
                <a:schemeClr val="dk1"/>
              </a:buClr>
              <a:buSzPct val="100000"/>
              <a:buNone/>
            </a:pPr>
            <a:r>
              <a:rPr b="1" lang="en-US" sz="1200"/>
              <a:t>4. Model weights — Hugging Face repo or upload link. NOT baked into the image. Include any access token or gating instructions.</a:t>
            </a:r>
            <a:endParaRPr/>
          </a:p>
          <a:p>
            <a:pPr indent="0" lvl="0" marL="0" rtl="0" algn="l">
              <a:lnSpc>
                <a:spcPct val="90000"/>
              </a:lnSpc>
              <a:spcBef>
                <a:spcPts val="1000"/>
              </a:spcBef>
              <a:spcAft>
                <a:spcPts val="0"/>
              </a:spcAft>
              <a:buClr>
                <a:schemeClr val="dk1"/>
              </a:buClr>
              <a:buSzPct val="100000"/>
              <a:buNone/>
            </a:pPr>
            <a:r>
              <a:rPr b="1" lang="en-US" sz="1200"/>
              <a:t>5. Manifest (manifest.yaml in your repo) declaring:</a:t>
            </a:r>
            <a:endParaRPr/>
          </a:p>
          <a:p>
            <a:pPr indent="0" lvl="0" marL="0" rtl="0" algn="l">
              <a:lnSpc>
                <a:spcPct val="90000"/>
              </a:lnSpc>
              <a:spcBef>
                <a:spcPts val="1000"/>
              </a:spcBef>
              <a:spcAft>
                <a:spcPts val="0"/>
              </a:spcAft>
              <a:buClr>
                <a:schemeClr val="dk1"/>
              </a:buClr>
              <a:buSzPct val="100000"/>
              <a:buNone/>
            </a:pPr>
            <a:r>
              <a:rPr b="1" lang="en-US" sz="1200"/>
              <a:t>- lane: sonic | decoupled</a:t>
            </a:r>
            <a:endParaRPr/>
          </a:p>
          <a:p>
            <a:pPr indent="0" lvl="0" marL="0" rtl="0" algn="l">
              <a:lnSpc>
                <a:spcPct val="90000"/>
              </a:lnSpc>
              <a:spcBef>
                <a:spcPts val="1000"/>
              </a:spcBef>
              <a:spcAft>
                <a:spcPts val="0"/>
              </a:spcAft>
              <a:buClr>
                <a:schemeClr val="dk1"/>
              </a:buClr>
              <a:buSzPct val="100000"/>
              <a:buNone/>
            </a:pPr>
            <a:r>
              <a:rPr b="1" lang="en-US" sz="1200"/>
              <a:t>- both image digests</a:t>
            </a:r>
            <a:endParaRPr/>
          </a:p>
          <a:p>
            <a:pPr indent="0" lvl="0" marL="0" rtl="0" algn="l">
              <a:lnSpc>
                <a:spcPct val="90000"/>
              </a:lnSpc>
              <a:spcBef>
                <a:spcPts val="1000"/>
              </a:spcBef>
              <a:spcAft>
                <a:spcPts val="0"/>
              </a:spcAft>
              <a:buClr>
                <a:schemeClr val="dk1"/>
              </a:buClr>
              <a:buSzPct val="100000"/>
              <a:buNone/>
            </a:pPr>
            <a:r>
              <a:rPr b="1" lang="en-US" sz="1200"/>
              <a:t>- base image tag used for each</a:t>
            </a:r>
            <a:endParaRPr/>
          </a:p>
          <a:p>
            <a:pPr indent="0" lvl="0" marL="0" rtl="0" algn="l">
              <a:lnSpc>
                <a:spcPct val="90000"/>
              </a:lnSpc>
              <a:spcBef>
                <a:spcPts val="1000"/>
              </a:spcBef>
              <a:spcAft>
                <a:spcPts val="0"/>
              </a:spcAft>
              <a:buClr>
                <a:schemeClr val="dk1"/>
              </a:buClr>
              <a:buSzPct val="100000"/>
              <a:buNone/>
            </a:pPr>
            <a:r>
              <a:rPr b="1" lang="en-US" sz="1200"/>
              <a:t>- entrypoint command for each container</a:t>
            </a:r>
            <a:endParaRPr/>
          </a:p>
          <a:p>
            <a:pPr indent="0" lvl="0" marL="0" rtl="0" algn="l">
              <a:lnSpc>
                <a:spcPct val="90000"/>
              </a:lnSpc>
              <a:spcBef>
                <a:spcPts val="1000"/>
              </a:spcBef>
              <a:spcAft>
                <a:spcPts val="0"/>
              </a:spcAft>
              <a:buClr>
                <a:schemeClr val="dk1"/>
              </a:buClr>
              <a:buSzPct val="100000"/>
              <a:buNone/>
            </a:pPr>
            <a:r>
              <a:rPr b="1" lang="en-US" sz="1200"/>
              <a:t>- your Thor&lt;-&gt;Orin port</a:t>
            </a:r>
            <a:endParaRPr/>
          </a:p>
          <a:p>
            <a:pPr indent="0" lvl="0" marL="0" rtl="0" algn="l">
              <a:lnSpc>
                <a:spcPct val="90000"/>
              </a:lnSpc>
              <a:spcBef>
                <a:spcPts val="1000"/>
              </a:spcBef>
              <a:spcAft>
                <a:spcPts val="0"/>
              </a:spcAft>
              <a:buClr>
                <a:schemeClr val="dk1"/>
              </a:buClr>
              <a:buSzPct val="100000"/>
              <a:buNone/>
            </a:pPr>
            <a:r>
              <a:rPr b="1" lang="en-US" sz="1200"/>
              <a:t>- weights URI</a:t>
            </a:r>
            <a:endParaRPr/>
          </a:p>
          <a:p>
            <a:pPr indent="0" lvl="0" marL="0" rtl="0" algn="l">
              <a:lnSpc>
                <a:spcPct val="90000"/>
              </a:lnSpc>
              <a:spcBef>
                <a:spcPts val="1000"/>
              </a:spcBef>
              <a:spcAft>
                <a:spcPts val="0"/>
              </a:spcAft>
              <a:buClr>
                <a:schemeClr val="dk1"/>
              </a:buClr>
              <a:buSzPct val="100000"/>
              <a:buNone/>
            </a:pPr>
            <a:r>
              <a:rPr b="1" lang="en-US" sz="1200"/>
              <a:t>- peak GPU memory you expect on the Thor</a:t>
            </a:r>
            <a:endParaRPr/>
          </a:p>
        </p:txBody>
      </p:sp>
      <p:sp>
        <p:nvSpPr>
          <p:cNvPr id="157" name="Google Shape;157;p21"/>
          <p:cNvSpPr txBox="1"/>
          <p:nvPr/>
        </p:nvSpPr>
        <p:spPr>
          <a:xfrm>
            <a:off x="7837714" y="1825625"/>
            <a:ext cx="3973286" cy="435133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6. Conformance output — terminal log of `python conformance.py --lane &lt;lane&gt;`passing against the current template.</a:t>
            </a:r>
            <a:endParaRPr/>
          </a:p>
          <a:p>
            <a:pPr indent="0" lvl="0" marL="0" marR="0" rtl="0" algn="l">
              <a:lnSpc>
                <a:spcPct val="90000"/>
              </a:lnSpc>
              <a:spcBef>
                <a:spcPts val="10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7. Run command (INSTRUCTIONS.md) for each container, exactly as you expect us to invoke it, including any --runtime nvidia flags, mounts, or environment variables.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IROS IKEA Assembly Challenge - Submission Requirements</a:t>
            </a:r>
            <a:endParaRPr/>
          </a:p>
        </p:txBody>
      </p:sp>
      <p:sp>
        <p:nvSpPr>
          <p:cNvPr id="164" name="Google Shape;164;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0028" lvl="0" marL="228600" rtl="0" algn="l">
              <a:lnSpc>
                <a:spcPct val="90000"/>
              </a:lnSpc>
              <a:spcBef>
                <a:spcPts val="0"/>
              </a:spcBef>
              <a:spcAft>
                <a:spcPts val="0"/>
              </a:spcAft>
              <a:buClr>
                <a:schemeClr val="dk1"/>
              </a:buClr>
              <a:buSzPct val="100000"/>
              <a:buChar char="•"/>
            </a:pPr>
            <a:r>
              <a:rPr b="1" lang="en-US" sz="1800"/>
              <a:t>Team can only book a timeslot minimum 2 days in advance. </a:t>
            </a:r>
            <a:endParaRPr b="1" sz="1800"/>
          </a:p>
          <a:p>
            <a:pPr indent="-220028" lvl="0" marL="228600" rtl="0" algn="l">
              <a:lnSpc>
                <a:spcPct val="90000"/>
              </a:lnSpc>
              <a:spcBef>
                <a:spcPts val="0"/>
              </a:spcBef>
              <a:spcAft>
                <a:spcPts val="0"/>
              </a:spcAft>
              <a:buClr>
                <a:schemeClr val="dk1"/>
              </a:buClr>
              <a:buSzPct val="100000"/>
              <a:buChar char="•"/>
            </a:pPr>
            <a:r>
              <a:rPr b="1" lang="en-US" sz="1800"/>
              <a:t>Booking of timeslot within the same day is not allowed. </a:t>
            </a:r>
            <a:endParaRPr b="1" sz="1800"/>
          </a:p>
          <a:p>
            <a:pPr indent="-220028" lvl="0" marL="228600" rtl="0" algn="l">
              <a:lnSpc>
                <a:spcPct val="90000"/>
              </a:lnSpc>
              <a:spcBef>
                <a:spcPts val="0"/>
              </a:spcBef>
              <a:spcAft>
                <a:spcPts val="0"/>
              </a:spcAft>
              <a:buClr>
                <a:schemeClr val="dk1"/>
              </a:buClr>
              <a:buSzPct val="100000"/>
              <a:buChar char="•"/>
            </a:pPr>
            <a:r>
              <a:rPr b="1" lang="en-US" sz="1800"/>
              <a:t>10th to 14th August is blocked due to ongoing events..</a:t>
            </a:r>
            <a:endParaRPr/>
          </a:p>
          <a:p>
            <a:pPr indent="-220028" lvl="0" marL="228600" rtl="0" algn="l">
              <a:lnSpc>
                <a:spcPct val="90000"/>
              </a:lnSpc>
              <a:spcBef>
                <a:spcPts val="1000"/>
              </a:spcBef>
              <a:spcAft>
                <a:spcPts val="0"/>
              </a:spcAft>
              <a:buClr>
                <a:schemeClr val="dk1"/>
              </a:buClr>
              <a:buSzPct val="100000"/>
              <a:buChar char="•"/>
            </a:pPr>
            <a:r>
              <a:rPr lang="en-US" sz="1800"/>
              <a:t>There are 2 slots per weekday (Excluding Wednesday), pick AM (10am – 12pm Singapore time) or PM (2pm to 4pm Singapore time) session.</a:t>
            </a:r>
            <a:endParaRPr/>
          </a:p>
          <a:p>
            <a:pPr indent="-220028" lvl="0" marL="228600" rtl="0" algn="l">
              <a:lnSpc>
                <a:spcPct val="90000"/>
              </a:lnSpc>
              <a:spcBef>
                <a:spcPts val="1000"/>
              </a:spcBef>
              <a:spcAft>
                <a:spcPts val="0"/>
              </a:spcAft>
              <a:buClr>
                <a:schemeClr val="dk1"/>
              </a:buClr>
              <a:buSzPct val="100000"/>
              <a:buChar char="•"/>
            </a:pPr>
            <a:r>
              <a:rPr lang="en-US" sz="1800"/>
              <a:t>Maximum of </a:t>
            </a:r>
            <a:r>
              <a:rPr b="1" lang="en-US" sz="1800"/>
              <a:t>2 bookings per week </a:t>
            </a:r>
            <a:r>
              <a:rPr lang="en-US" sz="1800"/>
              <a:t>(e.g. One AM session on Monday and One PM session on Thursday </a:t>
            </a:r>
            <a:r>
              <a:rPr b="1" lang="en-US" sz="1800"/>
              <a:t>OR</a:t>
            </a:r>
            <a:r>
              <a:rPr lang="en-US" sz="1800"/>
              <a:t> One FULL-DAY session on Tuesday = Max bookings per week) per team.</a:t>
            </a:r>
            <a:endParaRPr/>
          </a:p>
          <a:p>
            <a:pPr indent="-220028" lvl="0" marL="228600" rtl="0" algn="l">
              <a:lnSpc>
                <a:spcPct val="90000"/>
              </a:lnSpc>
              <a:spcBef>
                <a:spcPts val="1000"/>
              </a:spcBef>
              <a:spcAft>
                <a:spcPts val="0"/>
              </a:spcAft>
              <a:buClr>
                <a:schemeClr val="dk1"/>
              </a:buClr>
              <a:buSzPct val="100000"/>
              <a:buChar char="•"/>
            </a:pPr>
            <a:r>
              <a:rPr b="1" lang="en-US" sz="1800"/>
              <a:t>Teams get a maximum of 3 physical deployment attempts per 2-hour slot. If the failure is due to evaluation team hardware failure, the slot will be refunded and rescheduled.</a:t>
            </a:r>
            <a:endParaRPr b="1" sz="1800"/>
          </a:p>
          <a:p>
            <a:pPr indent="-220028" lvl="0" marL="228600" rtl="0" algn="l">
              <a:lnSpc>
                <a:spcPct val="90000"/>
              </a:lnSpc>
              <a:spcBef>
                <a:spcPts val="1000"/>
              </a:spcBef>
              <a:spcAft>
                <a:spcPts val="0"/>
              </a:spcAft>
              <a:buClr>
                <a:schemeClr val="dk1"/>
              </a:buClr>
              <a:buSzPct val="100000"/>
              <a:buChar char="•"/>
            </a:pPr>
            <a:r>
              <a:rPr lang="en-US" sz="1800"/>
              <a:t>Once time slot is booked, the booking will be pending and will be confirmed within one working day.</a:t>
            </a:r>
            <a:endParaRPr/>
          </a:p>
          <a:p>
            <a:pPr indent="-220028" lvl="0" marL="228600" rtl="0" algn="l">
              <a:lnSpc>
                <a:spcPct val="90000"/>
              </a:lnSpc>
              <a:spcBef>
                <a:spcPts val="1000"/>
              </a:spcBef>
              <a:spcAft>
                <a:spcPts val="0"/>
              </a:spcAft>
              <a:buClr>
                <a:schemeClr val="dk1"/>
              </a:buClr>
              <a:buSzPct val="100000"/>
              <a:buChar char="•"/>
            </a:pPr>
            <a:r>
              <a:rPr b="1" lang="en-US" sz="1800"/>
              <a:t>1</a:t>
            </a:r>
            <a:r>
              <a:rPr b="1" baseline="30000" lang="en-US" sz="1800"/>
              <a:t>st</a:t>
            </a:r>
            <a:r>
              <a:rPr b="1" lang="en-US" sz="1800"/>
              <a:t> Priority will be given to teams who have not booked a session before or have the least number of bookings.</a:t>
            </a:r>
            <a:endParaRPr/>
          </a:p>
          <a:p>
            <a:pPr indent="-220028" lvl="0" marL="228600" rtl="0" algn="l">
              <a:lnSpc>
                <a:spcPct val="90000"/>
              </a:lnSpc>
              <a:spcBef>
                <a:spcPts val="1000"/>
              </a:spcBef>
              <a:spcAft>
                <a:spcPts val="0"/>
              </a:spcAft>
              <a:buClr>
                <a:schemeClr val="dk1"/>
              </a:buClr>
              <a:buSzPct val="100000"/>
              <a:buChar char="•"/>
            </a:pPr>
            <a:r>
              <a:rPr b="1" lang="en-US" sz="1800"/>
              <a:t>2</a:t>
            </a:r>
            <a:r>
              <a:rPr b="1" baseline="30000" lang="en-US" sz="1800"/>
              <a:t>nd</a:t>
            </a:r>
            <a:r>
              <a:rPr b="1" lang="en-US" sz="1800"/>
              <a:t> Priority will be given to earliest team to book</a:t>
            </a:r>
            <a:endParaRPr b="1" sz="1800"/>
          </a:p>
          <a:p>
            <a:pPr indent="-220028" lvl="0" marL="228600" rtl="0" algn="l">
              <a:lnSpc>
                <a:spcPct val="90000"/>
              </a:lnSpc>
              <a:spcBef>
                <a:spcPts val="1000"/>
              </a:spcBef>
              <a:spcAft>
                <a:spcPts val="0"/>
              </a:spcAft>
              <a:buSzPct val="100000"/>
              <a:buChar char="•"/>
            </a:pPr>
            <a:r>
              <a:rPr b="1" lang="en-US" sz="1800"/>
              <a:t>Priority for DRY-RUN EVAL will be given to teams who </a:t>
            </a:r>
            <a:r>
              <a:rPr b="1" lang="en-US" sz="1800"/>
              <a:t>declared to not have their own Unitree G1 robot.</a:t>
            </a:r>
            <a:endParaRPr b="1" sz="1800"/>
          </a:p>
          <a:p>
            <a:pPr indent="-220028" lvl="0" marL="228600" rtl="0" algn="l">
              <a:lnSpc>
                <a:spcPct val="90000"/>
              </a:lnSpc>
              <a:spcBef>
                <a:spcPts val="1000"/>
              </a:spcBef>
              <a:spcAft>
                <a:spcPts val="0"/>
              </a:spcAft>
              <a:buClr>
                <a:schemeClr val="dk1"/>
              </a:buClr>
              <a:buSzPct val="100000"/>
              <a:buChar char="•"/>
            </a:pPr>
            <a:r>
              <a:rPr b="1" lang="en-US" sz="1800"/>
              <a:t>If booking is unsuccessful for the specific timeslot, remaining team will be pushed to next available time slot.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IROS IKEA Assembly Challenge - Submission Requirements</a:t>
            </a:r>
            <a:endParaRPr/>
          </a:p>
        </p:txBody>
      </p:sp>
      <p:sp>
        <p:nvSpPr>
          <p:cNvPr id="171" name="Google Shape;17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Team captain will receive an email for the booking confirmation/rejection </a:t>
            </a:r>
            <a:r>
              <a:rPr b="1" lang="en-US"/>
              <a:t>(if you don't see it in your inbox, please check your spam folder).</a:t>
            </a:r>
            <a:endParaRPr b="1"/>
          </a:p>
          <a:p>
            <a:pPr indent="-228600" lvl="0" marL="228600" rtl="0" algn="l">
              <a:lnSpc>
                <a:spcPct val="90000"/>
              </a:lnSpc>
              <a:spcBef>
                <a:spcPts val="1000"/>
              </a:spcBef>
              <a:spcAft>
                <a:spcPts val="0"/>
              </a:spcAft>
              <a:buClr>
                <a:schemeClr val="dk1"/>
              </a:buClr>
              <a:buSzPts val="2800"/>
              <a:buChar char="•"/>
            </a:pPr>
            <a:r>
              <a:rPr b="1" lang="en-US"/>
              <a:t>All code and model weights must be pushed to the designated repository at least 24 hours prior to your booked slot.</a:t>
            </a:r>
            <a:endParaRPr/>
          </a:p>
          <a:p>
            <a:pPr indent="-228600" lvl="0" marL="228600" rtl="0" algn="l">
              <a:lnSpc>
                <a:spcPct val="90000"/>
              </a:lnSpc>
              <a:spcBef>
                <a:spcPts val="1000"/>
              </a:spcBef>
              <a:spcAft>
                <a:spcPts val="0"/>
              </a:spcAft>
              <a:buClr>
                <a:schemeClr val="dk1"/>
              </a:buClr>
              <a:buSzPts val="2800"/>
              <a:buChar char="•"/>
            </a:pPr>
            <a:r>
              <a:rPr lang="en-US"/>
              <a:t>The Evaluation Team will run your submission at the allocated time slot and will provide feedback after.</a:t>
            </a:r>
            <a:endParaRPr/>
          </a:p>
          <a:p>
            <a:pPr indent="-228600" lvl="0" marL="228600" rtl="0" algn="l">
              <a:lnSpc>
                <a:spcPct val="90000"/>
              </a:lnSpc>
              <a:spcBef>
                <a:spcPts val="1000"/>
              </a:spcBef>
              <a:spcAft>
                <a:spcPts val="0"/>
              </a:spcAft>
              <a:buClr>
                <a:schemeClr val="dk1"/>
              </a:buClr>
              <a:buSzPts val="2800"/>
              <a:buChar char="•"/>
            </a:pPr>
            <a:r>
              <a:rPr lang="en-US"/>
              <a:t>Feedback will be given within 24 hours from the end of the time slot.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sp>
        <p:nvSpPr>
          <p:cNvPr id="177" name="Google Shape;177;p24"/>
          <p:cNvSpPr/>
          <p:nvPr/>
        </p:nvSpPr>
        <p:spPr>
          <a:xfrm>
            <a:off x="1524" y="0"/>
            <a:ext cx="12188952"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8" name="Google Shape;178;p24"/>
          <p:cNvSpPr/>
          <p:nvPr/>
        </p:nvSpPr>
        <p:spPr>
          <a:xfrm>
            <a:off x="3906448" y="2268993"/>
            <a:ext cx="1447800" cy="544286"/>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9" name="Google Shape;179;p24"/>
          <p:cNvSpPr/>
          <p:nvPr/>
        </p:nvSpPr>
        <p:spPr>
          <a:xfrm>
            <a:off x="3906448" y="2974182"/>
            <a:ext cx="1447800" cy="544286"/>
          </a:xfrm>
          <a:prstGeom prst="roundRect">
            <a:avLst>
              <a:gd fmla="val 16667" name="adj"/>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0" name="Google Shape;180;p24"/>
          <p:cNvSpPr txBox="1"/>
          <p:nvPr>
            <p:ph idx="1" type="body"/>
          </p:nvPr>
        </p:nvSpPr>
        <p:spPr>
          <a:xfrm>
            <a:off x="5710429" y="2306415"/>
            <a:ext cx="3505200" cy="54428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Onboarding</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81" name="Google Shape;181;p24"/>
          <p:cNvSpPr/>
          <p:nvPr/>
        </p:nvSpPr>
        <p:spPr>
          <a:xfrm>
            <a:off x="3906448" y="3679371"/>
            <a:ext cx="1447800" cy="544286"/>
          </a:xfrm>
          <a:prstGeom prst="roundRect">
            <a:avLst>
              <a:gd fmla="val 16667" name="adj"/>
            </a:avLst>
          </a:prstGeom>
          <a:solidFill>
            <a:srgbClr val="C0E4F5"/>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2" name="Google Shape;182;p24"/>
          <p:cNvSpPr txBox="1"/>
          <p:nvPr/>
        </p:nvSpPr>
        <p:spPr>
          <a:xfrm>
            <a:off x="5710429" y="2974182"/>
            <a:ext cx="3505200" cy="54428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Blocked</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183" name="Google Shape;183;p24"/>
          <p:cNvSpPr txBox="1"/>
          <p:nvPr/>
        </p:nvSpPr>
        <p:spPr>
          <a:xfrm>
            <a:off x="5710429" y="3641949"/>
            <a:ext cx="3505200" cy="54428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Dry-Run Eval</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5"/>
          <p:cNvPicPr preferRelativeResize="0"/>
          <p:nvPr>
            <p:ph idx="1" type="body"/>
          </p:nvPr>
        </p:nvPicPr>
        <p:blipFill rotWithShape="1">
          <a:blip r:embed="rId3">
            <a:alphaModFix/>
          </a:blip>
          <a:srcRect b="0" l="0" r="1280" t="0"/>
          <a:stretch/>
        </p:blipFill>
        <p:spPr>
          <a:xfrm>
            <a:off x="-6588" y="10"/>
            <a:ext cx="12198588" cy="6857990"/>
          </a:xfrm>
          <a:prstGeom prst="rect">
            <a:avLst/>
          </a:prstGeom>
          <a:noFill/>
          <a:ln>
            <a:noFill/>
          </a:ln>
        </p:spPr>
      </p:pic>
      <p:sp>
        <p:nvSpPr>
          <p:cNvPr id="190" name="Google Shape;190;p25"/>
          <p:cNvSpPr/>
          <p:nvPr/>
        </p:nvSpPr>
        <p:spPr>
          <a:xfrm>
            <a:off x="2253591" y="1034143"/>
            <a:ext cx="1186294" cy="380999"/>
          </a:xfrm>
          <a:prstGeom prst="roundRect">
            <a:avLst>
              <a:gd fmla="val 16667" name="adj"/>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1" name="Google Shape;191;p25"/>
          <p:cNvSpPr/>
          <p:nvPr/>
        </p:nvSpPr>
        <p:spPr>
          <a:xfrm>
            <a:off x="5715250" y="1034154"/>
            <a:ext cx="1186200" cy="5736600"/>
          </a:xfrm>
          <a:prstGeom prst="roundRect">
            <a:avLst>
              <a:gd fmla="val 16667" name="adj"/>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2" name="Google Shape;192;p25"/>
          <p:cNvSpPr/>
          <p:nvPr/>
        </p:nvSpPr>
        <p:spPr>
          <a:xfrm>
            <a:off x="2253591" y="1491341"/>
            <a:ext cx="1186294" cy="380999"/>
          </a:xfrm>
          <a:prstGeom prst="roundRect">
            <a:avLst>
              <a:gd fmla="val 16667" name="adj"/>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3" name="Google Shape;193;p25"/>
          <p:cNvSpPr/>
          <p:nvPr/>
        </p:nvSpPr>
        <p:spPr>
          <a:xfrm>
            <a:off x="3984419" y="1034143"/>
            <a:ext cx="1186294" cy="380999"/>
          </a:xfrm>
          <a:prstGeom prst="roundRect">
            <a:avLst>
              <a:gd fmla="val 16667" name="adj"/>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4" name="Google Shape;194;p25"/>
          <p:cNvSpPr/>
          <p:nvPr/>
        </p:nvSpPr>
        <p:spPr>
          <a:xfrm>
            <a:off x="3984419" y="1491341"/>
            <a:ext cx="1186294" cy="380999"/>
          </a:xfrm>
          <a:prstGeom prst="roundRect">
            <a:avLst>
              <a:gd fmla="val 16667" name="adj"/>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5" name="Google Shape;195;p25"/>
          <p:cNvSpPr/>
          <p:nvPr/>
        </p:nvSpPr>
        <p:spPr>
          <a:xfrm>
            <a:off x="7446075" y="1034142"/>
            <a:ext cx="1186294" cy="380999"/>
          </a:xfrm>
          <a:prstGeom prst="roundRect">
            <a:avLst>
              <a:gd fmla="val 16667" name="adj"/>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6" name="Google Shape;196;p25"/>
          <p:cNvSpPr/>
          <p:nvPr/>
        </p:nvSpPr>
        <p:spPr>
          <a:xfrm>
            <a:off x="7446075" y="1491340"/>
            <a:ext cx="1186294" cy="380999"/>
          </a:xfrm>
          <a:prstGeom prst="roundRect">
            <a:avLst>
              <a:gd fmla="val 16667" name="adj"/>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7" name="Google Shape;197;p25"/>
          <p:cNvSpPr/>
          <p:nvPr/>
        </p:nvSpPr>
        <p:spPr>
          <a:xfrm>
            <a:off x="9176903" y="1034142"/>
            <a:ext cx="1186294" cy="380999"/>
          </a:xfrm>
          <a:prstGeom prst="roundRect">
            <a:avLst>
              <a:gd fmla="val 16667" name="adj"/>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8" name="Google Shape;198;p25"/>
          <p:cNvSpPr/>
          <p:nvPr/>
        </p:nvSpPr>
        <p:spPr>
          <a:xfrm>
            <a:off x="9176903" y="1491340"/>
            <a:ext cx="1186294" cy="380999"/>
          </a:xfrm>
          <a:prstGeom prst="roundRect">
            <a:avLst>
              <a:gd fmla="val 16667" name="adj"/>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9" name="Google Shape;199;p25"/>
          <p:cNvSpPr/>
          <p:nvPr/>
        </p:nvSpPr>
        <p:spPr>
          <a:xfrm>
            <a:off x="2253591" y="2057386"/>
            <a:ext cx="1186294" cy="380999"/>
          </a:xfrm>
          <a:prstGeom prst="roundRect">
            <a:avLst>
              <a:gd fmla="val 16667" name="adj"/>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0" name="Google Shape;200;p25"/>
          <p:cNvSpPr/>
          <p:nvPr/>
        </p:nvSpPr>
        <p:spPr>
          <a:xfrm>
            <a:off x="2253591" y="2514584"/>
            <a:ext cx="1186294" cy="380999"/>
          </a:xfrm>
          <a:prstGeom prst="roundRect">
            <a:avLst>
              <a:gd fmla="val 16667" name="adj"/>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1" name="Google Shape;201;p25"/>
          <p:cNvSpPr/>
          <p:nvPr/>
        </p:nvSpPr>
        <p:spPr>
          <a:xfrm>
            <a:off x="3984419" y="2057386"/>
            <a:ext cx="1186294" cy="380999"/>
          </a:xfrm>
          <a:prstGeom prst="roundRect">
            <a:avLst>
              <a:gd fmla="val 16667" name="adj"/>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2" name="Google Shape;202;p25"/>
          <p:cNvSpPr/>
          <p:nvPr/>
        </p:nvSpPr>
        <p:spPr>
          <a:xfrm>
            <a:off x="3984419" y="2514584"/>
            <a:ext cx="1186294" cy="380999"/>
          </a:xfrm>
          <a:prstGeom prst="roundRect">
            <a:avLst>
              <a:gd fmla="val 16667" name="adj"/>
            </a:avLst>
          </a:prstGeom>
          <a:solidFill>
            <a:schemeClr val="dk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3" name="Google Shape;203;p25"/>
          <p:cNvSpPr/>
          <p:nvPr/>
        </p:nvSpPr>
        <p:spPr>
          <a:xfrm>
            <a:off x="7446075" y="2057385"/>
            <a:ext cx="1186294" cy="38099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4" name="Google Shape;204;p25"/>
          <p:cNvSpPr/>
          <p:nvPr/>
        </p:nvSpPr>
        <p:spPr>
          <a:xfrm>
            <a:off x="7446075" y="2514583"/>
            <a:ext cx="1186294" cy="38099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5" name="Google Shape;205;p25"/>
          <p:cNvSpPr/>
          <p:nvPr/>
        </p:nvSpPr>
        <p:spPr>
          <a:xfrm>
            <a:off x="9176903" y="2057385"/>
            <a:ext cx="1186294" cy="38099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6" name="Google Shape;206;p25"/>
          <p:cNvSpPr/>
          <p:nvPr/>
        </p:nvSpPr>
        <p:spPr>
          <a:xfrm>
            <a:off x="9176903" y="2514583"/>
            <a:ext cx="1186294" cy="38099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7" name="Google Shape;207;p25"/>
          <p:cNvSpPr/>
          <p:nvPr/>
        </p:nvSpPr>
        <p:spPr>
          <a:xfrm>
            <a:off x="2253591" y="3995023"/>
            <a:ext cx="1186294" cy="38099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8" name="Google Shape;208;p25"/>
          <p:cNvSpPr/>
          <p:nvPr/>
        </p:nvSpPr>
        <p:spPr>
          <a:xfrm>
            <a:off x="2253591" y="4452221"/>
            <a:ext cx="1186294" cy="38099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9" name="Google Shape;209;p25"/>
          <p:cNvSpPr/>
          <p:nvPr/>
        </p:nvSpPr>
        <p:spPr>
          <a:xfrm>
            <a:off x="3984419" y="3995023"/>
            <a:ext cx="1186294" cy="38099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0" name="Google Shape;210;p25"/>
          <p:cNvSpPr/>
          <p:nvPr/>
        </p:nvSpPr>
        <p:spPr>
          <a:xfrm>
            <a:off x="3984419" y="4452221"/>
            <a:ext cx="1186294" cy="38099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1" name="Google Shape;211;p25"/>
          <p:cNvSpPr/>
          <p:nvPr/>
        </p:nvSpPr>
        <p:spPr>
          <a:xfrm>
            <a:off x="7446075" y="3995022"/>
            <a:ext cx="1186294" cy="38099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2" name="Google Shape;212;p25"/>
          <p:cNvSpPr/>
          <p:nvPr/>
        </p:nvSpPr>
        <p:spPr>
          <a:xfrm>
            <a:off x="7446075" y="4452220"/>
            <a:ext cx="1186294" cy="38099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3" name="Google Shape;213;p25"/>
          <p:cNvSpPr/>
          <p:nvPr/>
        </p:nvSpPr>
        <p:spPr>
          <a:xfrm>
            <a:off x="9176903" y="3995022"/>
            <a:ext cx="1186294" cy="38099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4" name="Google Shape;214;p25"/>
          <p:cNvSpPr/>
          <p:nvPr/>
        </p:nvSpPr>
        <p:spPr>
          <a:xfrm>
            <a:off x="9176903" y="4452220"/>
            <a:ext cx="1186294" cy="38099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5" name="Google Shape;215;p25"/>
          <p:cNvSpPr/>
          <p:nvPr/>
        </p:nvSpPr>
        <p:spPr>
          <a:xfrm>
            <a:off x="2261183" y="3004443"/>
            <a:ext cx="1186294" cy="838196"/>
          </a:xfrm>
          <a:prstGeom prst="roundRect">
            <a:avLst>
              <a:gd fmla="val 16667" name="adj"/>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6" name="Google Shape;216;p25"/>
          <p:cNvSpPr/>
          <p:nvPr/>
        </p:nvSpPr>
        <p:spPr>
          <a:xfrm>
            <a:off x="2253641" y="5018248"/>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7" name="Google Shape;217;p25"/>
          <p:cNvSpPr/>
          <p:nvPr/>
        </p:nvSpPr>
        <p:spPr>
          <a:xfrm>
            <a:off x="2253641" y="5475446"/>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8" name="Google Shape;218;p25"/>
          <p:cNvSpPr/>
          <p:nvPr/>
        </p:nvSpPr>
        <p:spPr>
          <a:xfrm>
            <a:off x="3984469" y="5018248"/>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9" name="Google Shape;219;p25"/>
          <p:cNvSpPr/>
          <p:nvPr/>
        </p:nvSpPr>
        <p:spPr>
          <a:xfrm>
            <a:off x="3984469" y="5475446"/>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0" name="Google Shape;220;p25"/>
          <p:cNvSpPr/>
          <p:nvPr/>
        </p:nvSpPr>
        <p:spPr>
          <a:xfrm>
            <a:off x="7446125" y="5018247"/>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1" name="Google Shape;221;p25"/>
          <p:cNvSpPr/>
          <p:nvPr/>
        </p:nvSpPr>
        <p:spPr>
          <a:xfrm>
            <a:off x="7446125" y="5475445"/>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2" name="Google Shape;222;p25"/>
          <p:cNvSpPr/>
          <p:nvPr/>
        </p:nvSpPr>
        <p:spPr>
          <a:xfrm>
            <a:off x="9176953" y="5018247"/>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3" name="Google Shape;223;p25"/>
          <p:cNvSpPr/>
          <p:nvPr/>
        </p:nvSpPr>
        <p:spPr>
          <a:xfrm>
            <a:off x="9176953" y="5475445"/>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4" name="Google Shape;224;p25"/>
          <p:cNvSpPr/>
          <p:nvPr/>
        </p:nvSpPr>
        <p:spPr>
          <a:xfrm>
            <a:off x="2253641" y="5932648"/>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5" name="Google Shape;225;p25"/>
          <p:cNvSpPr/>
          <p:nvPr/>
        </p:nvSpPr>
        <p:spPr>
          <a:xfrm>
            <a:off x="2253641" y="6389846"/>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6" name="Google Shape;226;p25"/>
          <p:cNvSpPr/>
          <p:nvPr/>
        </p:nvSpPr>
        <p:spPr>
          <a:xfrm>
            <a:off x="3984469" y="5932648"/>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7" name="Google Shape;227;p25"/>
          <p:cNvSpPr/>
          <p:nvPr/>
        </p:nvSpPr>
        <p:spPr>
          <a:xfrm>
            <a:off x="3984469" y="6389846"/>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8" name="Google Shape;228;p25"/>
          <p:cNvSpPr/>
          <p:nvPr/>
        </p:nvSpPr>
        <p:spPr>
          <a:xfrm>
            <a:off x="7446125" y="5932647"/>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9" name="Google Shape;229;p25"/>
          <p:cNvSpPr/>
          <p:nvPr/>
        </p:nvSpPr>
        <p:spPr>
          <a:xfrm>
            <a:off x="7446125" y="6389845"/>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0" name="Google Shape;230;p25"/>
          <p:cNvSpPr/>
          <p:nvPr/>
        </p:nvSpPr>
        <p:spPr>
          <a:xfrm>
            <a:off x="9176953" y="5932647"/>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1" name="Google Shape;231;p25"/>
          <p:cNvSpPr/>
          <p:nvPr/>
        </p:nvSpPr>
        <p:spPr>
          <a:xfrm>
            <a:off x="9176953" y="6389845"/>
            <a:ext cx="1186200" cy="381000"/>
          </a:xfrm>
          <a:prstGeom prst="roundRect">
            <a:avLst>
              <a:gd fmla="val 16667" name="adj"/>
            </a:avLst>
          </a:prstGeom>
          <a:solidFill>
            <a:srgbClr val="C9EDFB"/>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2" name="Google Shape;232;p25"/>
          <p:cNvSpPr/>
          <p:nvPr/>
        </p:nvSpPr>
        <p:spPr>
          <a:xfrm>
            <a:off x="3988271" y="3026193"/>
            <a:ext cx="1186200" cy="838200"/>
          </a:xfrm>
          <a:prstGeom prst="roundRect">
            <a:avLst>
              <a:gd fmla="val 16667" name="adj"/>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3" name="Google Shape;233;p25"/>
          <p:cNvSpPr/>
          <p:nvPr/>
        </p:nvSpPr>
        <p:spPr>
          <a:xfrm>
            <a:off x="7442221" y="3026193"/>
            <a:ext cx="1186200" cy="838200"/>
          </a:xfrm>
          <a:prstGeom prst="roundRect">
            <a:avLst>
              <a:gd fmla="val 16667" name="adj"/>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4" name="Google Shape;234;p25"/>
          <p:cNvSpPr/>
          <p:nvPr/>
        </p:nvSpPr>
        <p:spPr>
          <a:xfrm>
            <a:off x="9169196" y="3026193"/>
            <a:ext cx="1186200" cy="838200"/>
          </a:xfrm>
          <a:prstGeom prst="roundRect">
            <a:avLst>
              <a:gd fmla="val 16667" name="adj"/>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IROS IKEA Assembly Challenge</a:t>
            </a:r>
            <a:endParaRPr/>
          </a:p>
        </p:txBody>
      </p:sp>
      <p:sp>
        <p:nvSpPr>
          <p:cNvPr id="241" name="Google Shape;24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42" name="Google Shape;242;p26"/>
          <p:cNvPicPr preferRelativeResize="0"/>
          <p:nvPr/>
        </p:nvPicPr>
        <p:blipFill rotWithShape="1">
          <a:blip r:embed="rId3">
            <a:alphaModFix/>
          </a:blip>
          <a:srcRect b="0" l="0" r="0" t="0"/>
          <a:stretch/>
        </p:blipFill>
        <p:spPr>
          <a:xfrm>
            <a:off x="3734126" y="1512562"/>
            <a:ext cx="4723749" cy="4977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IROS IKEA Assembly Challenge</a:t>
            </a:r>
            <a:endParaRPr/>
          </a:p>
        </p:txBody>
      </p:sp>
      <p:sp>
        <p:nvSpPr>
          <p:cNvPr id="249" name="Google Shape;249;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50" name="Google Shape;250;p27"/>
          <p:cNvPicPr preferRelativeResize="0"/>
          <p:nvPr/>
        </p:nvPicPr>
        <p:blipFill rotWithShape="1">
          <a:blip r:embed="rId3">
            <a:alphaModFix/>
          </a:blip>
          <a:srcRect b="0" l="0" r="0" t="0"/>
          <a:stretch/>
        </p:blipFill>
        <p:spPr>
          <a:xfrm>
            <a:off x="3645544" y="1306285"/>
            <a:ext cx="4900912" cy="542108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IROS IKEA Assembly Challenge</a:t>
            </a:r>
            <a:endParaRPr/>
          </a:p>
        </p:txBody>
      </p:sp>
      <p:sp>
        <p:nvSpPr>
          <p:cNvPr id="257" name="Google Shape;257;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58" name="Google Shape;258;p28"/>
          <p:cNvPicPr preferRelativeResize="0"/>
          <p:nvPr/>
        </p:nvPicPr>
        <p:blipFill rotWithShape="1">
          <a:blip r:embed="rId3">
            <a:alphaModFix/>
          </a:blip>
          <a:srcRect b="0" l="0" r="0" t="0"/>
          <a:stretch/>
        </p:blipFill>
        <p:spPr>
          <a:xfrm>
            <a:off x="2390258" y="2204866"/>
            <a:ext cx="7411484" cy="244826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IROS IKEA Assembly Challenge</a:t>
            </a:r>
            <a:endParaRPr/>
          </a:p>
        </p:txBody>
      </p:sp>
      <p:sp>
        <p:nvSpPr>
          <p:cNvPr id="265" name="Google Shape;265;p2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If there are any questions, do not hesitate to send an email to:</a:t>
            </a:r>
            <a:br>
              <a:rPr lang="en-US"/>
            </a:br>
            <a:br>
              <a:rPr lang="en-US"/>
            </a:br>
            <a:r>
              <a:rPr lang="en-US" u="sng">
                <a:solidFill>
                  <a:schemeClr val="hlink"/>
                </a:solidFill>
                <a:hlinkClick r:id="rId3"/>
              </a:rPr>
              <a:t>iacevaltest@gmail.com</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